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90352" y="0"/>
            <a:ext cx="3901342" cy="3909059"/>
          </a:xfrm>
          <a:prstGeom prst="ellipse">
            <a:avLst/>
          </a:prstGeom>
          <a:solidFill>
            <a:srgbClr val="FF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88" y="4320540"/>
            <a:ext cx="2926006" cy="2331720"/>
          </a:xfrm>
          <a:prstGeom prst="ellipse">
            <a:avLst/>
          </a:prstGeom>
          <a:solidFill>
            <a:srgbClr val="FF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58368"/>
            <a:ext cx="2286000" cy="310896"/>
          </a:xfrm>
          <a:prstGeom prst="roundRect">
            <a:avLst>
              <a:gd name="adj" fmla="val 8000"/>
            </a:avLst>
          </a:prstGeom>
          <a:solidFill>
            <a:srgbClr val="F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708660"/>
            <a:ext cx="2157984" cy="1920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C91E2D"/>
                </a:solidFill>
                <a:latin typeface="Aptos"/>
              </a:defRPr>
            </a:pPr>
            <a:r>
              <a:t>HACKATHON iFOOD • SEMCOMP XXIX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955279" cy="1417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222324"/>
                </a:solidFill>
                <a:latin typeface="Aptos"/>
              </a:defRPr>
            </a:pPr>
            <a:r>
              <a:t>Despensa primeiro.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222324"/>
                </a:solidFill>
                <a:latin typeface="Aptos"/>
              </a:defRPr>
            </a:pPr>
            <a:r>
              <a:t>Compra só se fizer sentido.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36392"/>
            <a:ext cx="649224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636569"/>
                </a:solidFill>
                <a:latin typeface="Aptos"/>
              </a:defRPr>
            </a:pPr>
            <a:r>
              <a:t>Um agente que entende o que já existe em casa, ajuda a decidir o que preparar e consulta o iFood Mercado apenas para completar o que falta.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074920"/>
            <a:ext cx="6858000" cy="731520"/>
          </a:xfrm>
          <a:prstGeom prst="roundRect">
            <a:avLst>
              <a:gd name="adj" fmla="val 8000"/>
            </a:avLst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294376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Despensa Reversa  |  pitch de 5 minutos  |  17–18 out 2026</a:t>
            </a:r>
          </a:p>
        </p:txBody>
      </p:sp>
      <p:sp>
        <p:nvSpPr>
          <p:cNvPr id="11" name="Arc 10"/>
          <p:cNvSpPr/>
          <p:nvPr/>
        </p:nvSpPr>
        <p:spPr>
          <a:xfrm>
            <a:off x="8869680" y="1920240"/>
            <a:ext cx="2103120" cy="1965960"/>
          </a:xfrm>
          <a:prstGeom prst="arc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64040" y="2084831"/>
            <a:ext cx="320040" cy="320040"/>
          </a:xfrm>
          <a:prstGeom prst="ellipse">
            <a:avLst/>
          </a:prstGeom>
          <a:solidFill>
            <a:srgbClr val="31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20" y="2331720"/>
            <a:ext cx="292608" cy="292608"/>
          </a:xfrm>
          <a:prstGeom prst="ellipse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10928" y="2788920"/>
            <a:ext cx="256032" cy="256032"/>
          </a:xfrm>
          <a:prstGeom prst="ellipse">
            <a:avLst/>
          </a:prstGeom>
          <a:solidFill>
            <a:srgbClr val="EC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391363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22324"/>
                </a:solidFill>
                <a:latin typeface="Aptos"/>
              </a:defRPr>
            </a:pPr>
            <a:r>
              <a:t>O contexto vem primeiro.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36569"/>
                </a:solidFill>
                <a:latin typeface="Aptos"/>
              </a:defRPr>
            </a:pPr>
            <a:r>
              <a:t>Problema • produto • experiência • engenharia • impacto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01  •  VISÃO E ORIGINALIDADE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A compra começa antes da busca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57200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C91E2D"/>
                </a:solidFill>
                <a:latin typeface="Aptos"/>
              </a:defRPr>
            </a:pPr>
            <a:r>
              <a:t>O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663440" cy="1965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222324"/>
                </a:solidFill>
                <a:latin typeface="Aptos"/>
              </a:defRPr>
            </a:pPr>
            <a:r>
              <a:t>A pessoa abre um app para comprar, mas ainda não sabe: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22324"/>
                </a:solidFill>
                <a:latin typeface="Aptos"/>
              </a:defRPr>
            </a:pPr>
            <a:r>
              <a:t>• o que consegue preparar;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22324"/>
                </a:solidFill>
                <a:latin typeface="Aptos"/>
              </a:defRPr>
            </a:pPr>
            <a:r>
              <a:t>• o que já tem em casa;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222324"/>
                </a:solidFill>
                <a:latin typeface="Aptos"/>
              </a:defRPr>
            </a:pPr>
            <a:r>
              <a:t>• o que realmente precisa repor.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99032"/>
            <a:ext cx="539496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663440" cy="32918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C91E2D"/>
                </a:solidFill>
                <a:latin typeface="Aptos"/>
              </a:defRPr>
            </a:pPr>
            <a:r>
              <a:t>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12848"/>
            <a:ext cx="4572000" cy="1554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222324"/>
                </a:solidFill>
                <a:latin typeface="Aptos"/>
              </a:defRPr>
            </a:pPr>
            <a:r>
              <a:t>Transformar um relato cotidiano — ingredientes, tempo, pessoas, orçamento e preferências — em uma decisão clara: aproveitar, complementar ou escolher praticidade.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05072"/>
            <a:ext cx="4572000" cy="4206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6569"/>
                </a:solidFill>
                <a:latin typeface="Aptos"/>
              </a:defRPr>
            </a:pPr>
            <a:r>
              <a:t>Mercado é a vertical do MVP. Farmácia e Pet ficam para depois.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10744200" cy="658368"/>
          </a:xfrm>
          <a:prstGeom prst="roundRect">
            <a:avLst>
              <a:gd name="adj" fmla="val 8000"/>
            </a:avLst>
          </a:prstGeom>
          <a:solidFill>
            <a:srgbClr val="FF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0096"/>
            <a:ext cx="1014984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16945"/>
                </a:solidFill>
                <a:latin typeface="Aptos"/>
              </a:defRPr>
            </a:pPr>
            <a:r>
              <a:t>Diferencial: não tenta vender primeiro; procura a melhor ação para o contexto.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02–03  •  EXPERIÊNCIA E 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Uma conversa curta, com confirmação no ponto certo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417320"/>
            <a:ext cx="365760" cy="365760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3657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417320"/>
            <a:ext cx="3520440" cy="2651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22324"/>
                </a:solidFill>
                <a:latin typeface="Aptos"/>
              </a:defRPr>
            </a:pPr>
            <a:r>
              <a:t>Conte o que 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719072"/>
            <a:ext cx="36118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6569"/>
                </a:solidFill>
                <a:latin typeface="Aptos"/>
              </a:defRPr>
            </a:pPr>
            <a:r>
              <a:t>Texto ou foto; objetivo opcional.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377440"/>
            <a:ext cx="365760" cy="365760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41448"/>
            <a:ext cx="3657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377440"/>
            <a:ext cx="3520440" cy="2651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22324"/>
                </a:solidFill>
                <a:latin typeface="Aptos"/>
              </a:defRPr>
            </a:pPr>
            <a:r>
              <a:t>Revise o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679192"/>
            <a:ext cx="36118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6569"/>
                </a:solidFill>
                <a:latin typeface="Aptos"/>
              </a:defRPr>
            </a:pPr>
            <a:r>
              <a:t>Corrija ingredientes e confirme o pedido.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337560"/>
            <a:ext cx="365760" cy="365760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01568"/>
            <a:ext cx="3657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337560"/>
            <a:ext cx="3520440" cy="2651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22324"/>
                </a:solidFill>
                <a:latin typeface="Aptos"/>
              </a:defRPr>
            </a:pPr>
            <a:r>
              <a:t>Escolha uma ideia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639312"/>
            <a:ext cx="36118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6569"/>
                </a:solidFill>
                <a:latin typeface="Aptos"/>
              </a:defRPr>
            </a:pPr>
            <a:r>
              <a:t>Aproveitar o que existe ou ver faltantes.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4297680"/>
            <a:ext cx="365760" cy="365760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61688"/>
            <a:ext cx="36576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4297680"/>
            <a:ext cx="3520440" cy="26517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22324"/>
                </a:solidFill>
                <a:latin typeface="Aptos"/>
              </a:defRPr>
            </a:pPr>
            <a:r>
              <a:t>Consulte o Mercado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4599432"/>
            <a:ext cx="361188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36569"/>
                </a:solidFill>
                <a:latin typeface="Aptos"/>
              </a:defRPr>
            </a:pPr>
            <a:r>
              <a:t>O agente busca ofertas reais quando necessário.</a:t>
            </a:r>
          </a:p>
        </p:txBody>
      </p:sp>
      <p:pic>
        <p:nvPicPr>
          <p:cNvPr id="23" name="Picture 22" descr="desk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98448"/>
            <a:ext cx="6720840" cy="448056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074920" y="5870448"/>
            <a:ext cx="6400800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5943600"/>
            <a:ext cx="61722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36569"/>
                </a:solidFill>
                <a:latin typeface="Aptos"/>
              </a:defRPr>
            </a:pPr>
            <a:r>
              <a:t>Captura do protótipo web. Foto gera hipóteses editáveis, não prova validade ou segurança.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04  •  ARQUITETURA E 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O agente interpreta; o backend valida; o MCP consulta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56231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57400"/>
            <a:ext cx="1554480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React + Vite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Texto / câmera / upload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505456"/>
            <a:ext cx="429768" cy="0"/>
          </a:xfrm>
          <a:prstGeom prst="line">
            <a:avLst/>
          </a:prstGeom>
          <a:ln w="25400">
            <a:solidFill>
              <a:srgbClr val="C9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1856231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057400"/>
            <a:ext cx="1554480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395728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FastAPI + Pydantic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Revisão, preferências, sessão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2312" y="2505456"/>
            <a:ext cx="630936" cy="0"/>
          </a:xfrm>
          <a:prstGeom prst="line">
            <a:avLst/>
          </a:prstGeom>
          <a:ln w="25400">
            <a:solidFill>
              <a:srgbClr val="C9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1856231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2057400"/>
            <a:ext cx="1554480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AGENTE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395728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OpenAI Agents SDK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Plano estruturado e explicação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96912" y="2505456"/>
            <a:ext cx="658367" cy="0"/>
          </a:xfrm>
          <a:prstGeom prst="line">
            <a:avLst/>
          </a:prstGeom>
          <a:ln w="25400">
            <a:solidFill>
              <a:srgbClr val="C9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28431" y="1856231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2057400"/>
            <a:ext cx="1554480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ADAPTER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395728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JSON-RPC / Streamable HTTP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Schema real validado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38944" y="2505456"/>
            <a:ext cx="192024" cy="0"/>
          </a:xfrm>
          <a:prstGeom prst="line">
            <a:avLst/>
          </a:prstGeom>
          <a:ln w="25400">
            <a:solidFill>
              <a:srgbClr val="C9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04120" y="1856231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FF4EE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13848" y="2057400"/>
            <a:ext cx="1554480" cy="2103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iFOOD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3848" y="2395728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searchOffers</a:t>
            </a:r>
          </a:p>
          <a:p>
            <a:pPr algn="ctr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Mercado / ofertas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57600"/>
            <a:ext cx="50292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22324"/>
                </a:solidFill>
                <a:latin typeface="Aptos"/>
              </a:defRPr>
            </a:pPr>
            <a:r>
              <a:t>Controles de produto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96512"/>
            <a:ext cx="50292" cy="777240"/>
          </a:xfrm>
          <a:prstGeom prst="rect">
            <a:avLst/>
          </a:prstGeom>
          <a:solidFill>
            <a:srgbClr val="31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96512"/>
            <a:ext cx="4773168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22324"/>
                </a:solidFill>
                <a:latin typeface="Aptos"/>
              </a:defRPr>
            </a:pPr>
            <a:r>
              <a:t>Sem compra automática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379976"/>
            <a:ext cx="4754880" cy="5669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6569"/>
                </a:solidFill>
                <a:latin typeface="Aptos"/>
              </a:defRPr>
            </a:pPr>
            <a:r>
              <a:t>Busca MCP é somente leitura; produtos e preços vêm da resposta atual.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10912"/>
            <a:ext cx="50292" cy="777240"/>
          </a:xfrm>
          <a:prstGeom prst="rect">
            <a:avLst/>
          </a:prstGeom>
          <a:solidFill>
            <a:srgbClr val="31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010912"/>
            <a:ext cx="4773168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22324"/>
                </a:solidFill>
                <a:latin typeface="Aptos"/>
              </a:defRPr>
            </a:pPr>
            <a:r>
              <a:t>Contexto explícito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294376"/>
            <a:ext cx="4754880" cy="5669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636569"/>
                </a:solidFill>
                <a:latin typeface="Aptos"/>
              </a:defRPr>
            </a:pPr>
            <a:r>
              <a:t>Quantidades e restrições não são inventadas; resultados passam por revisão.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70332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57200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C91E2D"/>
                </a:solidFill>
                <a:latin typeface="Aptos"/>
              </a:defRPr>
            </a:pPr>
            <a:r>
              <a:t>Status técnico verificado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07408"/>
            <a:ext cx="4572000" cy="96926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22324"/>
                </a:solidFill>
                <a:latin typeface="Aptos"/>
              </a:defRPr>
            </a:pPr>
            <a:r>
              <a:t>OAuth iFood no backend • extração por imagem sem MCP • 28 testes passando • build web aprovado.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22324"/>
                </a:solidFill>
                <a:latin typeface="Aptos"/>
              </a:defRPr>
            </a:pPr>
            <a:r>
              <a:t>Nesta sessão, tools/list retornou searchOffers, listVouchers e setVoucher; só searchOffers é usada pelo agente.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05  •  ENGENHARIA E FEEDBACK AO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Integração real, com limites ditos com clareza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448056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C91E2D"/>
                </a:solidFill>
                <a:latin typeface="Aptos"/>
              </a:defRPr>
            </a:pPr>
            <a:r>
              <a:t>O que demonstramos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389120" cy="2011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22324"/>
                </a:solidFill>
                <a:latin typeface="Aptos"/>
              </a:defRPr>
            </a:pPr>
            <a:r>
              <a:t>• OAuth do consumidor e conexão MCP no backend.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22324"/>
                </a:solidFill>
                <a:latin typeface="Aptos"/>
              </a:defRPr>
            </a:pPr>
            <a:r>
              <a:t>• tools/list consultado no servidor oficial.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22324"/>
                </a:solidFill>
                <a:latin typeface="Aptos"/>
              </a:defRPr>
            </a:pPr>
            <a:r>
              <a:t>• searchOffers validada pelo schema anunciado; os filtros vêm do schema de runtime.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22324"/>
                </a:solidFill>
                <a:latin typeface="Aptos"/>
              </a:defRPr>
            </a:pPr>
            <a:r>
              <a:t>• Agente separa erro de busca de catálogo vazio.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56048"/>
            <a:ext cx="3246120" cy="310896"/>
          </a:xfrm>
          <a:prstGeom prst="roundRect">
            <a:avLst>
              <a:gd name="adj" fmla="val 8000"/>
            </a:avLst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5006340"/>
            <a:ext cx="3118103" cy="1920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316945"/>
                </a:solidFill>
                <a:latin typeface="Aptos"/>
              </a:defRPr>
            </a:pPr>
            <a:r>
              <a:t>28 TESTES • BUILD WEB APROVADO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4343400"/>
          </a:xfrm>
          <a:prstGeom prst="roundRect">
            <a:avLst>
              <a:gd name="adj" fmla="val 8000"/>
            </a:avLst>
          </a:prstGeom>
          <a:solidFill>
            <a:srgbClr val="FF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448056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C91E2D"/>
                </a:solidFill>
                <a:latin typeface="Aptos"/>
              </a:defRPr>
            </a:pPr>
            <a:r>
              <a:t>Limites e oportunidade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80"/>
            <a:ext cx="4434840" cy="2148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22324"/>
                </a:solidFill>
                <a:latin typeface="Aptos"/>
              </a:defRPr>
            </a:pPr>
            <a:r>
              <a:t>• A busca de ponta a ponta testada usou coordenadas fictícias (0,0) e voltou vazia: não comprova oferta local.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22324"/>
                </a:solidFill>
                <a:latin typeface="Aptos"/>
              </a:defRPr>
            </a:pPr>
            <a:r>
              <a:t>• Perfil/tags estruturadas não são recurso do MCP; sugerimos contexto próprio com consentimento.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22324"/>
                </a:solidFill>
                <a:latin typeface="Aptos"/>
              </a:defRPr>
            </a:pPr>
            <a:r>
              <a:t>• Documentação usa “dietary”; o runtime consultado anuncia “itemRestrictions”.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892040"/>
            <a:ext cx="44348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16945"/>
                </a:solidFill>
                <a:latin typeface="Aptos"/>
              </a:defRPr>
            </a:pPr>
            <a:r>
              <a:t>Sem prometer catálogo local, compra, alergênicos ou histórico que não foi exposto.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06  •  PRÓXIMAS ENTREGAS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O que falta: evoluções priorizadas, sem mexer na ideia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286000" cy="310896"/>
          </a:xfrm>
          <a:prstGeom prst="roundRect">
            <a:avLst>
              <a:gd name="adj" fmla="val 8000"/>
            </a:avLst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6172"/>
            <a:ext cx="2157984" cy="1920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316945"/>
                </a:solidFill>
                <a:latin typeface="Aptos"/>
              </a:defRPr>
            </a:pPr>
            <a:r>
              <a:t>BASE JÁ IMPLEMENTADA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5120640" cy="7132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22324"/>
                </a:solidFill>
                <a:latin typeface="Aptos"/>
              </a:defRPr>
            </a:pPr>
            <a:r>
              <a:t>• Login/autorização iFood via OAuth no backend.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22324"/>
                </a:solidFill>
                <a:latin typeface="Aptos"/>
              </a:defRPr>
            </a:pPr>
            <a:r>
              <a:t>• Perfil opcional e tags básicas de preferências/restrições.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2651760" cy="310896"/>
          </a:xfrm>
          <a:prstGeom prst="roundRect">
            <a:avLst>
              <a:gd name="adj" fmla="val 8000"/>
            </a:avLst>
          </a:prstGeom>
          <a:solidFill>
            <a:srgbClr val="FF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376172"/>
            <a:ext cx="2523744" cy="1920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C91E2D"/>
                </a:solidFill>
                <a:latin typeface="Aptos"/>
              </a:defRPr>
            </a:pPr>
            <a:r>
              <a:t>FALTA PARA CONSOLIDAR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340864"/>
            <a:ext cx="246888" cy="246888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" y="2382012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22576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1  Perfil iFood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78608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Persistir cadastro e preferências; separar sessão por usuário.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182112"/>
            <a:ext cx="246888" cy="246888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" y="3223260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3824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2  Tags alimentares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19856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Ampliar opções, consentimento e avisos para restrições sensíveis.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023359"/>
            <a:ext cx="246888" cy="246888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" y="4064508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05072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3  Acompanhamentos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61104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Porções, sobremesa, suco/refrigerante, conforme a refeição.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864608"/>
            <a:ext cx="246888" cy="246888"/>
          </a:xfrm>
          <a:prstGeom prst="ellipse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" y="4905756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46320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4  Receitas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102352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Base curada de receitas, porções e substituições.</a:t>
            </a:r>
          </a:p>
        </p:txBody>
      </p:sp>
      <p:sp>
        <p:nvSpPr>
          <p:cNvPr id="28" name="Oval 27"/>
          <p:cNvSpPr/>
          <p:nvPr/>
        </p:nvSpPr>
        <p:spPr>
          <a:xfrm>
            <a:off x="6309359" y="2340864"/>
            <a:ext cx="246888" cy="246888"/>
          </a:xfrm>
          <a:prstGeom prst="ellipse">
            <a:avLst/>
          </a:prstGeom>
          <a:solidFill>
            <a:srgbClr val="EC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3" y="2382012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322576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5  Áudio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578608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Conversa por voz com transcrição confirmável.</a:t>
            </a:r>
          </a:p>
        </p:txBody>
      </p:sp>
      <p:sp>
        <p:nvSpPr>
          <p:cNvPr id="32" name="Oval 31"/>
          <p:cNvSpPr/>
          <p:nvPr/>
        </p:nvSpPr>
        <p:spPr>
          <a:xfrm>
            <a:off x="6309359" y="3182112"/>
            <a:ext cx="246888" cy="246888"/>
          </a:xfrm>
          <a:prstGeom prst="ellipse">
            <a:avLst/>
          </a:prstGeom>
          <a:solidFill>
            <a:srgbClr val="EC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3" y="3223260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163824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6  Histórico de recomendações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19856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Salvar, consultar e apagar recomendações com controle do usuário.</a:t>
            </a:r>
          </a:p>
        </p:txBody>
      </p:sp>
      <p:sp>
        <p:nvSpPr>
          <p:cNvPr id="36" name="Oval 35"/>
          <p:cNvSpPr/>
          <p:nvPr/>
        </p:nvSpPr>
        <p:spPr>
          <a:xfrm>
            <a:off x="6309359" y="4023359"/>
            <a:ext cx="246888" cy="246888"/>
          </a:xfrm>
          <a:prstGeom prst="ellipse">
            <a:avLst/>
          </a:prstGeom>
          <a:solidFill>
            <a:srgbClr val="ECA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3" y="4064508"/>
            <a:ext cx="146304" cy="1188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005072"/>
            <a:ext cx="489204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222324"/>
                </a:solidFill>
                <a:latin typeface="Aptos"/>
              </a:defRPr>
            </a:pPr>
            <a:r>
              <a:t>7  Histórico de compras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261104"/>
            <a:ext cx="4892040" cy="44805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636569"/>
                </a:solidFill>
                <a:latin typeface="Aptos"/>
              </a:defRPr>
            </a:pPr>
            <a:r>
              <a:t>Depende de ferramenta/escopo oficial; não confirmado no MCP atual.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806440"/>
            <a:ext cx="1060704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897880"/>
            <a:ext cx="103327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636569"/>
                </a:solidFill>
                <a:latin typeface="Aptos"/>
              </a:defRPr>
            </a:pPr>
            <a:r>
              <a:t>Áudio e histórico são posteriores ao MVP; compra histórica só com acesso oficial e consentimento.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91E2D"/>
                </a:solidFill>
                <a:latin typeface="Aptos"/>
              </a:defRPr>
            </a:pPr>
            <a:r>
              <a:t>07  •  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1155680" cy="6035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222324"/>
                </a:solidFill>
                <a:latin typeface="Aptos"/>
              </a:defRPr>
            </a:pPr>
            <a:r>
              <a:t>A banca avalia uma ideia útil, executada com honestidade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914400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636569"/>
                </a:solidFill>
                <a:latin typeface="Aptos"/>
              </a:defRPr>
            </a:pPr>
            <a:r>
              <a:t>DESPENSA REVERSA  •  HACKATHON iFOOD / SEMCOMP XXIX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3656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27632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91E2D"/>
                </a:solidFill>
                <a:latin typeface="Aptos"/>
              </a:defRPr>
            </a:pPr>
            <a:r>
              <a:t>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93852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Recomendação começa pelo que a pessoa já 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8132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627632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91E2D"/>
                </a:solidFill>
                <a:latin typeface="Aptos"/>
              </a:defRPr>
            </a:pPr>
            <a:r>
              <a:t>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3852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FastAPI + agente + MCP oficial com schema real.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81328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627632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91E2D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938528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Um fluxo curto, revisável, responsivo e sem obrigação de preencher perfil.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2889504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91E2D"/>
                </a:solidFill>
                <a:latin typeface="Aptos"/>
              </a:defRPr>
            </a:pPr>
            <a:r>
              <a:t>Impacto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200400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Menos compra desnecessária e melhor aproveitamento.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743200"/>
            <a:ext cx="33375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2889504"/>
            <a:ext cx="2999232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91E2D"/>
                </a:solidFill>
                <a:latin typeface="Aptos"/>
              </a:defRPr>
            </a:pPr>
            <a:r>
              <a:t>Comunicação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200400"/>
            <a:ext cx="297180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22324"/>
                </a:solidFill>
                <a:latin typeface="Aptos"/>
              </a:defRPr>
            </a:pPr>
            <a:r>
              <a:t>Demo com evidências e limites claros.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97680"/>
            <a:ext cx="10744200" cy="1325880"/>
          </a:xfrm>
          <a:prstGeom prst="roundRect">
            <a:avLst>
              <a:gd name="adj" fmla="val 8000"/>
            </a:avLst>
          </a:prstGeom>
          <a:solidFill>
            <a:srgbClr val="C9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590288"/>
            <a:ext cx="10012680" cy="43891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“Antes de descobrir o que você quer comprar, entendemos o que você realmente precisa.”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66360"/>
            <a:ext cx="10058400" cy="23774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Próximo passo da demo: usar contexto real autorizado e mostrar uma busca local; se não houver catálogo, declarar o resultado vazio.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16752"/>
            <a:ext cx="10332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636569"/>
                </a:solidFill>
                <a:latin typeface="Aptos"/>
              </a:defRPr>
            </a:pPr>
            <a:r>
              <a:t>Entregas: proposta • fluxo • UX • protótipo • arquitetura/MCP • feedback técnico • roteiro de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